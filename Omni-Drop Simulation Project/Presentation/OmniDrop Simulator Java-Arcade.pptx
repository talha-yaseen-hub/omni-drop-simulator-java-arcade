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Urbanist SemiBold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  <p:embeddedFont>
      <p:font typeface="Space Grotesk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7AF9AD-F2FF-495D-9353-04B6CCDB6E9F}">
  <a:tblStyle styleId="{6A7AF9AD-F2FF-495D-9353-04B6CCDB6E9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UrbanistSemiBold-regular.fntdata"/><Relationship Id="rId21" Type="http://schemas.openxmlformats.org/officeDocument/2006/relationships/slide" Target="slides/slide15.xml"/><Relationship Id="rId24" Type="http://schemas.openxmlformats.org/officeDocument/2006/relationships/font" Target="fonts/UrbanistSemiBold-italic.fntdata"/><Relationship Id="rId23" Type="http://schemas.openxmlformats.org/officeDocument/2006/relationships/font" Target="fonts/Urbanist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regular.fntdata"/><Relationship Id="rId25" Type="http://schemas.openxmlformats.org/officeDocument/2006/relationships/font" Target="fonts/UrbanistSemiBold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SpaceGrotesk-bold.fntdata"/><Relationship Id="rId30" Type="http://schemas.openxmlformats.org/officeDocument/2006/relationships/font" Target="fonts/SpaceGrotes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3.png"/><Relationship Id="rId5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2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32.png"/><Relationship Id="rId5" Type="http://schemas.openxmlformats.org/officeDocument/2006/relationships/image" Target="../media/image15.png"/><Relationship Id="rId6" Type="http://schemas.openxmlformats.org/officeDocument/2006/relationships/image" Target="../media/image14.png"/><Relationship Id="rId7" Type="http://schemas.openxmlformats.org/officeDocument/2006/relationships/image" Target="../media/image35.png"/><Relationship Id="rId8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Relationship Id="rId6" Type="http://schemas.openxmlformats.org/officeDocument/2006/relationships/image" Target="../media/image21.png"/><Relationship Id="rId7" Type="http://schemas.openxmlformats.org/officeDocument/2006/relationships/image" Target="../media/image29.png"/><Relationship Id="rId8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22.png"/><Relationship Id="rId9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90661" y="2162175"/>
            <a:ext cx="5410676" cy="1152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OMNIDROP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519487" y="3505200"/>
            <a:ext cx="51530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C8FF"/>
                </a:solidFill>
                <a:latin typeface="Urbanist"/>
                <a:ea typeface="Urbanist"/>
                <a:cs typeface="Urbanist"/>
                <a:sym typeface="Urbanist"/>
              </a:rPr>
              <a:t>High-Performance Java Arcade Simulator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24362" y="4324350"/>
            <a:ext cx="18669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1762" y="4324350"/>
            <a:ext cx="1285875" cy="371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2615564" y="2414587"/>
            <a:ext cx="696087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Architecture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781300" y="3452812"/>
            <a:ext cx="6629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C8FF"/>
                </a:solidFill>
                <a:latin typeface="Urbanist"/>
                <a:ea typeface="Urbanist"/>
                <a:cs typeface="Urbanist"/>
                <a:sym typeface="Urbanist"/>
              </a:rPr>
              <a:t>The Core Ecosystem of OmniDrop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381625" y="4081462"/>
            <a:ext cx="1428750" cy="76200"/>
          </a:xfrm>
          <a:prstGeom prst="rect">
            <a:avLst/>
          </a:prstGeom>
          <a:solidFill>
            <a:srgbClr val="FFCD5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784223" y="3328987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Entities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857250" y="3548062"/>
            <a:ext cx="29210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Base hierarchy for physics-driven objects. Contains logic for Spawns, Voidlings, and PowerUps extending from FallingObject.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4562523" y="3328987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FX Layer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635549" y="3548062"/>
            <a:ext cx="292104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Visual feedback systems. Manages frame-based ParticleSystem bursts and FloatingText UI popups for immediate player reinforcement.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340822" y="3328987"/>
            <a:ext cx="3067102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Root Engine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8413849" y="3548062"/>
            <a:ext cx="2921049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core controller. GamePanel hosts the Swing Timer loop, collision resolution, and high-score persistence via HighScoreManager.</a:t>
            </a:r>
            <a:endParaRPr/>
          </a:p>
        </p:txBody>
      </p:sp>
      <p:pic>
        <p:nvPicPr>
          <p:cNvPr descr="image.png" id="111" name="Google Shape;111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46250" y="2624137"/>
            <a:ext cx="3429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62413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624137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MODULAR FOLDER STRUCTURE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1" name="Google Shape;121;p16"/>
          <p:cNvGraphicFramePr/>
          <p:nvPr/>
        </p:nvGraphicFramePr>
        <p:xfrm>
          <a:off x="3333750" y="26384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{6A7AF9AD-F2FF-495D-9353-04B6CCDB6E9F}</a:tableStyleId>
              </a:tblPr>
              <a:tblGrid>
                <a:gridCol w="1352550"/>
                <a:gridCol w="1323975"/>
                <a:gridCol w="1209675"/>
                <a:gridCol w="1638300"/>
              </a:tblGrid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CD5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Entity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CD5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Classification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CD5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Points / Risk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CD5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Visual Trait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CD5A"/>
                    </a:solidFill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Spawn (Epic)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Beneficial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+50 Points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Purple Glow + 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Spawn (Rare)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Beneficial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+25 Points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Blue Glow + 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Voidling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Hazard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-1 Life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Spiky Silhouette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3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PowerUp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Bonus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Timed Buff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5F5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Rotating Star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" name="Google Shape;122;p16"/>
          <p:cNvSpPr/>
          <p:nvPr/>
        </p:nvSpPr>
        <p:spPr>
          <a:xfrm>
            <a:off x="3333750" y="3662362"/>
            <a:ext cx="1352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4686300" y="3662362"/>
            <a:ext cx="1323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6010275" y="3662362"/>
            <a:ext cx="12096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7219950" y="3662362"/>
            <a:ext cx="1638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3333750" y="4138612"/>
            <a:ext cx="1352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6"/>
          <p:cNvSpPr/>
          <p:nvPr/>
        </p:nvSpPr>
        <p:spPr>
          <a:xfrm>
            <a:off x="4686300" y="4138612"/>
            <a:ext cx="1323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6"/>
          <p:cNvSpPr/>
          <p:nvPr/>
        </p:nvSpPr>
        <p:spPr>
          <a:xfrm>
            <a:off x="6010275" y="4138612"/>
            <a:ext cx="12096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7219950" y="4138612"/>
            <a:ext cx="1638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3333750" y="4614862"/>
            <a:ext cx="1352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4686300" y="4614862"/>
            <a:ext cx="1323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010275" y="4614862"/>
            <a:ext cx="12096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7219950" y="4614862"/>
            <a:ext cx="1638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3333750" y="5091112"/>
            <a:ext cx="135255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4686300" y="5091112"/>
            <a:ext cx="13239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6010275" y="5091112"/>
            <a:ext cx="1209675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7219950" y="5091112"/>
            <a:ext cx="16383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ENTITY SPECIFICATION TABLE</a:t>
            </a:r>
            <a:endParaRPr/>
          </a:p>
        </p:txBody>
      </p:sp>
      <p:sp>
        <p:nvSpPr>
          <p:cNvPr id="139" name="Google Shape;139;p16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571500" y="3067050"/>
            <a:ext cx="5286375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60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571500" y="4400550"/>
            <a:ext cx="52863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AC8FF"/>
                </a:solidFill>
                <a:latin typeface="Urbanist"/>
                <a:ea typeface="Urbanist"/>
                <a:cs typeface="Urbanist"/>
                <a:sym typeface="Urbanist"/>
              </a:rPr>
              <a:t>FRAMES PER SECOND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334125" y="3119437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Physics Execution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334125" y="3338512"/>
            <a:ext cx="52863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OmniDrop operates on a fixed-timestep Swing Timer, ensuring consistent collision checks regardless of hardware rendering speed. Gravity and drag are applied at 16.6ms intervals for smooth motion.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PERFORMANCE METRICS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66912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571500" y="2657475"/>
            <a:ext cx="5550693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Responsive Input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28765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player controls the "Guardian" basket using Mouse Motion or Keyboard (A-D/Arrows). Key features include:</a:t>
            </a:r>
            <a:endParaRPr/>
          </a:p>
        </p:txBody>
      </p:sp>
      <p:pic>
        <p:nvPicPr>
          <p:cNvPr descr="image.png" id="159" name="Google Shape;15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3175" y="1985962"/>
            <a:ext cx="5248275" cy="377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695325" y="36004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62000" y="3600450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Catch Bounce: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Visual spring effect on contact.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695325" y="39814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62000" y="3981450"/>
            <a:ext cx="5095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Clamping: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Precise screen-boundary logic.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695325" y="436245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762000" y="4362450"/>
            <a:ext cx="50958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Aura Rendering: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Real-time visual flags for active Magnet or Shield power-ups.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GUARDIAN DYNAMICS</a:t>
            </a: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2" name="Google Shape;17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043112"/>
            <a:ext cx="8572500" cy="3038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3929062" y="5272087"/>
            <a:ext cx="43338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FFCD5A"/>
                </a:solidFill>
                <a:latin typeface="Urbanist"/>
                <a:ea typeface="Urbanist"/>
                <a:cs typeface="Urbanist"/>
                <a:sym typeface="Urbanist"/>
              </a:rPr>
              <a:t>Metric: Fall Speed (pixels per frame) vs Game Level.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DIFFICULTY SCALING CURVE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57325"/>
            <a:ext cx="11049000" cy="482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SPAWNING PROBABILITY DISTRIBUTION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762000" y="571500"/>
            <a:ext cx="50006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POWER-UP ARSENAL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2886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571500" y="3014662"/>
            <a:ext cx="3352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Shield: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Blocks 1 Voidling hit (6s duration).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571500" y="3443287"/>
            <a:ext cx="4581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Magnet: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Automatically attracts Spawns to the basket.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571500" y="3871912"/>
            <a:ext cx="40481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Slow Time: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Global 0.45x timescale for precision.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571500" y="4300537"/>
            <a:ext cx="43719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Multiplier: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Doubles score gains via combo-stacking.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4312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43125"/>
            <a:ext cx="3492549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43125"/>
            <a:ext cx="3492549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484186" y="4667250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Environment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4886325"/>
            <a:ext cx="3492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sky gradients that darken as the level increases.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4262485" y="4667250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FX Bursts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4349799" y="4886325"/>
            <a:ext cx="3492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Physics-driven particles generated on every successful catch.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8040785" y="4667250"/>
            <a:ext cx="366717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HUD Layer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8128099" y="4886325"/>
            <a:ext cx="3492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Real-time combo tracking and life-count heart icons.</a:t>
            </a:r>
            <a:endParaRPr/>
          </a:p>
        </p:txBody>
      </p:sp>
      <p:pic>
        <p:nvPicPr>
          <p:cNvPr descr="image.png" id="211" name="Google Shape;21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0550" y="2162175"/>
            <a:ext cx="3454449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68849" y="2162175"/>
            <a:ext cx="3454449" cy="2343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47149" y="2162175"/>
            <a:ext cx="3454449" cy="23431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 FEEDBACK PIPELINE</a:t>
            </a:r>
            <a:endParaRPr/>
          </a:p>
        </p:txBody>
      </p:sp>
      <p:sp>
        <p:nvSpPr>
          <p:cNvPr id="215" name="Google Shape;215;p22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2152650" y="2733675"/>
            <a:ext cx="836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HighScoreManager: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Robust file I/O that persists best scores to the user's home directory. Handles missing files gracefully without crashes.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2152650" y="3543300"/>
            <a:ext cx="836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Constants Architecture: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Every tunable number (speed, radius, interval) is centralized for easy re-balancing.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2152650" y="4352925"/>
            <a:ext cx="83629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Enum State Management: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Clear distinction between Menu, Playing, Paused, and GameOver logic paths.</a:t>
            </a:r>
            <a:endParaRPr/>
          </a:p>
        </p:txBody>
      </p:sp>
      <p:pic>
        <p:nvPicPr>
          <p:cNvPr descr="image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76400" y="2776537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76400" y="35861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6400" y="4395787"/>
            <a:ext cx="33337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ENGINE FEATURES &amp; PERSISTENCE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550" y="2062162"/>
            <a:ext cx="36195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9650" y="2100262"/>
            <a:ext cx="3543300" cy="354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 txBox="1"/>
          <p:nvPr/>
        </p:nvSpPr>
        <p:spPr>
          <a:xfrm>
            <a:off x="5657850" y="2376487"/>
            <a:ext cx="65341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Talha Yaseen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657850" y="3052762"/>
            <a:ext cx="64389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CD5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AI/ML Enthusiast | BSIT Batch '24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657850" y="3414712"/>
            <a:ext cx="6438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Punjab University Lahore, FCIT</a:t>
            </a:r>
            <a:endParaRPr/>
          </a:p>
        </p:txBody>
      </p:sp>
      <p:sp>
        <p:nvSpPr>
          <p:cNvPr id="239" name="Google Shape;239;p24"/>
          <p:cNvSpPr txBox="1"/>
          <p:nvPr/>
        </p:nvSpPr>
        <p:spPr>
          <a:xfrm>
            <a:off x="6134100" y="3986212"/>
            <a:ext cx="5962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Talha-Yaseen-Hub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6134100" y="4443412"/>
            <a:ext cx="5962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Talha Yaseen | LinkedIn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6134100" y="4900612"/>
            <a:ext cx="59626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talhavectorarts@gmail.com</a:t>
            </a:r>
            <a:endParaRPr/>
          </a:p>
        </p:txBody>
      </p:sp>
      <p:pic>
        <p:nvPicPr>
          <p:cNvPr descr="image.png" id="242" name="Google Shape;24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657850" y="4005262"/>
            <a:ext cx="2571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657850" y="4462462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57850" y="4919662"/>
            <a:ext cx="2667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4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DEVELOPER PROFILE</a:t>
            </a:r>
            <a:endParaRPr/>
          </a:p>
        </p:txBody>
      </p:sp>
      <p:sp>
        <p:nvSpPr>
          <p:cNvPr id="246" name="Google Shape;246;p24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/>
        </p:nvSpPr>
        <p:spPr>
          <a:xfrm>
            <a:off x="2554932" y="1009650"/>
            <a:ext cx="708213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QUESTIONS?</a:t>
            </a:r>
            <a:endParaRPr/>
          </a:p>
        </p:txBody>
      </p:sp>
      <p:sp>
        <p:nvSpPr>
          <p:cNvPr id="253" name="Google Shape;253;p25"/>
          <p:cNvSpPr txBox="1"/>
          <p:nvPr/>
        </p:nvSpPr>
        <p:spPr>
          <a:xfrm>
            <a:off x="2723554" y="4991100"/>
            <a:ext cx="67448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5AC8FF"/>
                </a:solidFill>
                <a:latin typeface="Urbanist"/>
                <a:ea typeface="Urbanist"/>
                <a:cs typeface="Urbanist"/>
                <a:sym typeface="Urbanist"/>
              </a:rPr>
              <a:t>Thank you for exploring OmniDrop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2723554" y="5619750"/>
            <a:ext cx="674489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CD5A"/>
                </a:solidFill>
                <a:latin typeface="Arial"/>
                <a:ea typeface="Arial"/>
                <a:cs typeface="Arial"/>
                <a:sym typeface="Arial"/>
              </a:rPr>
              <a:t>github.com/Talha-Yaseen-Hub/Omni-Drop-Simulator-Java-Arcade</a:t>
            </a:r>
            <a:endParaRPr/>
          </a:p>
        </p:txBody>
      </p:sp>
      <p:pic>
        <p:nvPicPr>
          <p:cNvPr descr="image.png" id="255" name="Google Shape;25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4750" y="2228850"/>
            <a:ext cx="4762500" cy="238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0" name="Google Shape;26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6"/>
          <p:cNvSpPr/>
          <p:nvPr/>
        </p:nvSpPr>
        <p:spPr>
          <a:xfrm>
            <a:off x="571500" y="12192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6"/>
          <p:cNvSpPr/>
          <p:nvPr/>
        </p:nvSpPr>
        <p:spPr>
          <a:xfrm>
            <a:off x="571500" y="19907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6"/>
          <p:cNvSpPr/>
          <p:nvPr/>
        </p:nvSpPr>
        <p:spPr>
          <a:xfrm>
            <a:off x="571500" y="276225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6"/>
          <p:cNvSpPr/>
          <p:nvPr/>
        </p:nvSpPr>
        <p:spPr>
          <a:xfrm>
            <a:off x="571500" y="37052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6"/>
          <p:cNvSpPr/>
          <p:nvPr/>
        </p:nvSpPr>
        <p:spPr>
          <a:xfrm>
            <a:off x="571500" y="464820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6"/>
          <p:cNvSpPr/>
          <p:nvPr/>
        </p:nvSpPr>
        <p:spPr>
          <a:xfrm>
            <a:off x="571500" y="1981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6"/>
          <p:cNvSpPr/>
          <p:nvPr/>
        </p:nvSpPr>
        <p:spPr>
          <a:xfrm>
            <a:off x="571500" y="19812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/>
          <p:nvPr/>
        </p:nvSpPr>
        <p:spPr>
          <a:xfrm>
            <a:off x="571500" y="2752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6"/>
          <p:cNvSpPr/>
          <p:nvPr/>
        </p:nvSpPr>
        <p:spPr>
          <a:xfrm>
            <a:off x="571500" y="2752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6"/>
          <p:cNvSpPr/>
          <p:nvPr/>
        </p:nvSpPr>
        <p:spPr>
          <a:xfrm>
            <a:off x="571500" y="3695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6"/>
          <p:cNvSpPr/>
          <p:nvPr/>
        </p:nvSpPr>
        <p:spPr>
          <a:xfrm>
            <a:off x="571500" y="36957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6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6"/>
          <p:cNvSpPr/>
          <p:nvPr/>
        </p:nvSpPr>
        <p:spPr>
          <a:xfrm>
            <a:off x="571500" y="46386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571500" y="5581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571500" y="55816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6" name="Google Shape;27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620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1666875" y="13692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https://robotpaper.ai/content/images/2026/02/image-16.png</a:t>
            </a:r>
            <a:endParaRPr/>
          </a:p>
        </p:txBody>
      </p:sp>
      <p:sp>
        <p:nvSpPr>
          <p:cNvPr id="278" name="Google Shape;278;p26"/>
          <p:cNvSpPr txBox="1"/>
          <p:nvPr/>
        </p:nvSpPr>
        <p:spPr>
          <a:xfrm>
            <a:off x="1666875" y="16025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robotpaper.ai</a:t>
            </a:r>
            <a:endParaRPr/>
          </a:p>
        </p:txBody>
      </p:sp>
      <p:pic>
        <p:nvPicPr>
          <p:cNvPr descr="image.png" id="279" name="Google Shape;27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336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6"/>
          <p:cNvSpPr txBox="1"/>
          <p:nvPr/>
        </p:nvSpPr>
        <p:spPr>
          <a:xfrm>
            <a:off x="1666875" y="21407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https://images.stockcake.com/public/0/9/7/0971d6e6-2fca-41bd-800e-fd00db1a01ac_large/retro-arcade-shrine-stockcake.jpg</a:t>
            </a:r>
            <a:endParaRPr/>
          </a:p>
        </p:txBody>
      </p:sp>
      <p:sp>
        <p:nvSpPr>
          <p:cNvPr id="281" name="Google Shape;281;p26"/>
          <p:cNvSpPr txBox="1"/>
          <p:nvPr/>
        </p:nvSpPr>
        <p:spPr>
          <a:xfrm>
            <a:off x="1666875" y="23741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stockcake.com</a:t>
            </a:r>
            <a:endParaRPr/>
          </a:p>
        </p:txBody>
      </p:sp>
      <p:pic>
        <p:nvPicPr>
          <p:cNvPr descr="image.png" id="282" name="Google Shape;28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908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1666875" y="29051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https://static.vecteezy.com/system/resources/previews/072/366/595/non_2x/monochrome-pixel-art-clouds-with-sparkling-stars-retro-digital-design-night-sky-fantasy-atmospheric-illustration-vector.jpg</a:t>
            </a:r>
            <a:endParaRPr/>
          </a:p>
        </p:txBody>
      </p:sp>
      <p:sp>
        <p:nvSpPr>
          <p:cNvPr id="284" name="Google Shape;284;p26"/>
          <p:cNvSpPr txBox="1"/>
          <p:nvPr/>
        </p:nvSpPr>
        <p:spPr>
          <a:xfrm>
            <a:off x="1666875" y="33242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85" name="Google Shape;28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33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6"/>
          <p:cNvSpPr txBox="1"/>
          <p:nvPr/>
        </p:nvSpPr>
        <p:spPr>
          <a:xfrm>
            <a:off x="1666875" y="38481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https://static.vecteezy.com/system/resources/thumbnails/067/796/168/small_2x/radiant-blue-light-burst-with-sparkling-particles-and-glowing-rays-on-dark-background-perfect-for-sci-fi-space-energy-or-futuristic-digital-effects-and-backgrounds-seamless-looping-animation-video.jpg</a:t>
            </a:r>
            <a:endParaRPr/>
          </a:p>
        </p:txBody>
      </p:sp>
      <p:sp>
        <p:nvSpPr>
          <p:cNvPr id="287" name="Google Shape;287;p26"/>
          <p:cNvSpPr txBox="1"/>
          <p:nvPr/>
        </p:nvSpPr>
        <p:spPr>
          <a:xfrm>
            <a:off x="1666875" y="42672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88" name="Google Shape;288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768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6"/>
          <p:cNvSpPr txBox="1"/>
          <p:nvPr/>
        </p:nvSpPr>
        <p:spPr>
          <a:xfrm>
            <a:off x="1666875" y="479107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https://static.vecteezy.com/system/resources/previews/055/713/833/non_2x/retro-90s-futuristic-game-hud-element-set-psychedelic-groovy-interface-decoration-aesthetic-geometric-trendy-y2k-ui-figure-design-space-frame-shape-collection-modern-blue-neon-symbol-graphic-vector.jpg</a:t>
            </a:r>
            <a:endParaRPr/>
          </a:p>
        </p:txBody>
      </p:sp>
      <p:sp>
        <p:nvSpPr>
          <p:cNvPr id="290" name="Google Shape;290;p26"/>
          <p:cNvSpPr txBox="1"/>
          <p:nvPr/>
        </p:nvSpPr>
        <p:spPr>
          <a:xfrm>
            <a:off x="1666875" y="521017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91" name="Google Shape;291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8197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6"/>
          <p:cNvSpPr txBox="1"/>
          <p:nvPr/>
        </p:nvSpPr>
        <p:spPr>
          <a:xfrm>
            <a:off x="1666875" y="573405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https://img.magnific.com/premium-photo/hooded-figure-with-glowing-blue-glasses-shrouded-darkness-symbolizing-anonymity-technol_924727-111196.jpg?semt=ais_hybrid&amp;w=740&amp;q=80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1666875" y="615315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www.magnific.com</a:t>
            </a:r>
            <a:endParaRPr/>
          </a:p>
        </p:txBody>
      </p:sp>
      <p:sp>
        <p:nvSpPr>
          <p:cNvPr id="294" name="Google Shape;294;p26"/>
          <p:cNvSpPr txBox="1"/>
          <p:nvPr/>
        </p:nvSpPr>
        <p:spPr>
          <a:xfrm>
            <a:off x="762000" y="333375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295" name="Google Shape;295;p26"/>
          <p:cNvSpPr/>
          <p:nvPr/>
        </p:nvSpPr>
        <p:spPr>
          <a:xfrm>
            <a:off x="571500" y="333375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C28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0" name="Google Shape;30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1" name="Google Shape;30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6337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7"/>
          <p:cNvSpPr txBox="1"/>
          <p:nvPr/>
        </p:nvSpPr>
        <p:spPr>
          <a:xfrm>
            <a:off x="1666875" y="354806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https://images.unsplash.com/photo-1685914963658-11d4c18527c1?fm=jpg&amp;q=60&amp;w=3000&amp;auto=format&amp;fit=crop&amp;ixlib=rb-4.1.0&amp;ixid=M3wxMjA3fDB8MHxwaG90by1wYWdlfHx8fGVufDB8fHx8fA%3D%3D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1666875" y="396716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unsplash.com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762000" y="571500"/>
            <a:ext cx="11401425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CD5A"/>
                </a:solidFill>
                <a:latin typeface="Space Grotesk"/>
                <a:ea typeface="Space Grotesk"/>
                <a:cs typeface="Space Grotesk"/>
                <a:sym typeface="Space Grotesk"/>
              </a:rPr>
              <a:t>IMAGE SOURCES</a:t>
            </a:r>
            <a:endParaRPr/>
          </a:p>
        </p:txBody>
      </p:sp>
      <p:sp>
        <p:nvSpPr>
          <p:cNvPr id="305" name="Google Shape;305;p27"/>
          <p:cNvSpPr/>
          <p:nvPr/>
        </p:nvSpPr>
        <p:spPr>
          <a:xfrm>
            <a:off x="571500" y="571500"/>
            <a:ext cx="57150" cy="504825"/>
          </a:xfrm>
          <a:prstGeom prst="rect">
            <a:avLst/>
          </a:prstGeom>
          <a:solidFill>
            <a:srgbClr val="5AC8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